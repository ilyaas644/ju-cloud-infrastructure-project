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1" r:id="rId1"/>
  </p:sldMasterIdLst>
  <p:notesMasterIdLst>
    <p:notesMasterId r:id="rId16"/>
  </p:notesMasterIdLst>
  <p:handoutMasterIdLst>
    <p:handoutMasterId r:id="rId17"/>
  </p:handoutMasterIdLst>
  <p:sldIdLst>
    <p:sldId id="281" r:id="rId2"/>
    <p:sldId id="395" r:id="rId3"/>
    <p:sldId id="396" r:id="rId4"/>
    <p:sldId id="397" r:id="rId5"/>
    <p:sldId id="398" r:id="rId6"/>
    <p:sldId id="403" r:id="rId7"/>
    <p:sldId id="404" r:id="rId8"/>
    <p:sldId id="399" r:id="rId9"/>
    <p:sldId id="400" r:id="rId10"/>
    <p:sldId id="401" r:id="rId11"/>
    <p:sldId id="402" r:id="rId12"/>
    <p:sldId id="405" r:id="rId13"/>
    <p:sldId id="406" r:id="rId14"/>
    <p:sldId id="390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ohamed Aweis" initials="MA" lastIdx="1" clrIdx="0">
    <p:extLst>
      <p:ext uri="{19B8F6BF-5375-455C-9EA6-DF929625EA0E}">
        <p15:presenceInfo xmlns:p15="http://schemas.microsoft.com/office/powerpoint/2012/main" userId="a21a271ec00130be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AEDA"/>
    <a:srgbClr val="3B3A57"/>
    <a:srgbClr val="EF4164"/>
    <a:srgbClr val="F2647F"/>
    <a:srgbClr val="604FA8"/>
    <a:srgbClr val="5F3A0F"/>
    <a:srgbClr val="5D2425"/>
    <a:srgbClr val="F4F9FF"/>
    <a:srgbClr val="E9EAF1"/>
    <a:srgbClr val="FFFFFF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049" autoAdjust="0"/>
  </p:normalViewPr>
  <p:slideViewPr>
    <p:cSldViewPr snapToGrid="0">
      <p:cViewPr>
        <p:scale>
          <a:sx n="58" d="100"/>
          <a:sy n="58" d="100"/>
        </p:scale>
        <p:origin x="964" y="68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0E433BB-3C71-E8D5-2496-EA8FEAE31CC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5222E1-0820-9911-619F-5524883DC7B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E8B560-A278-403A-9838-6DABA4C388FC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99E939-06AE-D50A-00F1-DA3FA71907B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All right se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B4ADF8-4DFC-536D-4A92-889DE727010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8DD83D-A0E4-4B4D-BADA-5801328720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04088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278E4-CAEC-43CD-A7CD-3C7EEA537118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All right 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0D60DA-305E-4AE2-A225-D14077E19F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1732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0D60DA-305E-4AE2-A225-D14077E19F4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88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3B39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 userDrawn="1"/>
        </p:nvSpPr>
        <p:spPr>
          <a:xfrm>
            <a:off x="218526" y="211014"/>
            <a:ext cx="11749867" cy="6377939"/>
          </a:xfrm>
          <a:prstGeom prst="rect">
            <a:avLst/>
          </a:prstGeom>
          <a:solidFill>
            <a:srgbClr val="3B3957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1132514"/>
            <a:ext cx="9966960" cy="2381559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29" y="395352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A29914E7-627A-4488-B1D4-86320806B3D5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18811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9DF15-4478-4448-9846-E5E06FC69D17}" type="datetime1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Mohamed Aweis, Jamhuriya University. All rights reserved.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914E7-627A-4488-B1D4-86320806B3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108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4CEF9-7CAA-495B-B225-414E6F4701A3}" type="datetime1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Mohamed Aweis, Jamhuriya University. All rights reserved.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914E7-627A-4488-B1D4-86320806B3D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62641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C2B86-AA07-4406-B1A8-3CDE8859F1B7}" type="datetime1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Mohamed Aweis, Jamhuriya University. All rights reserved.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914E7-627A-4488-B1D4-86320806B3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0207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0C5D0-FA62-4558-86B1-DCC2FF0089ED}" type="datetime1">
              <a:rPr lang="en-US" smtClean="0"/>
              <a:t>7/3/2026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Mohamed Aweis, Jamhuriya University. All rights reserved.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914E7-627A-4488-B1D4-86320806B3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545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476499"/>
            <a:ext cx="9875520" cy="5427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61800-4D0C-4A44-B65F-3672FFE20BD5}" type="datetime1">
              <a:rPr lang="en-US" smtClean="0"/>
              <a:t>7/3/2026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Mohamed Aweis, Jamhuriya University. All rights reserved.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914E7-627A-4488-B1D4-86320806B3D5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D15CC48-FA0C-F2F2-6DC6-197EC5530A80}"/>
              </a:ext>
            </a:extLst>
          </p:cNvPr>
          <p:cNvCxnSpPr>
            <a:cxnSpLocks/>
          </p:cNvCxnSpPr>
          <p:nvPr userDrawn="1"/>
        </p:nvCxnSpPr>
        <p:spPr>
          <a:xfrm>
            <a:off x="975946" y="1019260"/>
            <a:ext cx="10377854" cy="0"/>
          </a:xfrm>
          <a:prstGeom prst="line">
            <a:avLst/>
          </a:prstGeom>
          <a:ln>
            <a:solidFill>
              <a:srgbClr val="3B3A57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77436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290D9-43F9-4427-A21E-585DB98F5162}" type="datetime1">
              <a:rPr lang="en-US" smtClean="0"/>
              <a:t>7/3/2026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Mohamed Aweis, Jamhuriya University. All rights reserved.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914E7-627A-4488-B1D4-86320806B3D5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151B77F-EB27-311C-C97E-1EB7C75DA9A4}"/>
              </a:ext>
            </a:extLst>
          </p:cNvPr>
          <p:cNvSpPr/>
          <p:nvPr userDrawn="1"/>
        </p:nvSpPr>
        <p:spPr>
          <a:xfrm>
            <a:off x="836762" y="888521"/>
            <a:ext cx="1233578" cy="2587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20098714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ACD38-25D2-4C66-BBF6-065571298ECD}" type="datetime1">
              <a:rPr lang="en-US" smtClean="0"/>
              <a:t>7/3/2026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Mohamed Aweis, Jamhuriya University. All rights reserved.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914E7-627A-4488-B1D4-86320806B3D5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51A0CA4-76D5-EE7F-151B-E9609A6CAF5A}"/>
              </a:ext>
            </a:extLst>
          </p:cNvPr>
          <p:cNvSpPr/>
          <p:nvPr userDrawn="1"/>
        </p:nvSpPr>
        <p:spPr>
          <a:xfrm>
            <a:off x="353683" y="879894"/>
            <a:ext cx="1293962" cy="27604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489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3AF2A-B8B8-446C-ACF3-DDF272542993}" type="datetime1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Mohamed Aweis, Jamhuriya University. All rights reserved.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914E7-627A-4488-B1D4-86320806B3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6760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352D8-0025-442A-8AC1-7C353B26B32C}" type="datetime1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Mohamed Aweis, Jamhuriya University. All rights reserved.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914E7-627A-4488-B1D4-86320806B3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1171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B39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 userDrawn="1"/>
        </p:nvSpPr>
        <p:spPr>
          <a:xfrm>
            <a:off x="276838" y="211014"/>
            <a:ext cx="11618751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2818" y="412458"/>
            <a:ext cx="10453234" cy="5313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2818" y="1078092"/>
            <a:ext cx="10453234" cy="49703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CB3BC6B7-AC0F-4D41-BCFA-3422434EEEEC}" type="datetime1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r>
              <a:rPr lang="en-US"/>
              <a:t>© 2026 Mohamed Aweis, Jamhuriya University. All rights reserved.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A29914E7-627A-4488-B1D4-86320806B3D5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F45AAC1-E8D8-41E5-8CAA-CACCE293BD9D}"/>
              </a:ext>
            </a:extLst>
          </p:cNvPr>
          <p:cNvSpPr/>
          <p:nvPr userDrawn="1"/>
        </p:nvSpPr>
        <p:spPr>
          <a:xfrm>
            <a:off x="0" y="1696673"/>
            <a:ext cx="268447" cy="3464653"/>
          </a:xfrm>
          <a:prstGeom prst="rect">
            <a:avLst/>
          </a:prstGeom>
          <a:solidFill>
            <a:srgbClr val="EF4164"/>
          </a:solidFill>
          <a:ln>
            <a:solidFill>
              <a:srgbClr val="EF416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8C83DC8-A0E0-F0B2-9AA3-4E56C4354E81}"/>
              </a:ext>
            </a:extLst>
          </p:cNvPr>
          <p:cNvGrpSpPr/>
          <p:nvPr userDrawn="1"/>
        </p:nvGrpSpPr>
        <p:grpSpPr>
          <a:xfrm>
            <a:off x="388360" y="930430"/>
            <a:ext cx="1164667" cy="173540"/>
            <a:chOff x="852819" y="890038"/>
            <a:chExt cx="846584" cy="80514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C4BE226-2AA8-9A25-4D26-FDBB84B14E1D}"/>
                </a:ext>
              </a:extLst>
            </p:cNvPr>
            <p:cNvSpPr/>
            <p:nvPr userDrawn="1"/>
          </p:nvSpPr>
          <p:spPr>
            <a:xfrm rot="16200000">
              <a:off x="1421261" y="692409"/>
              <a:ext cx="79266" cy="477019"/>
            </a:xfrm>
            <a:prstGeom prst="rect">
              <a:avLst/>
            </a:prstGeom>
            <a:solidFill>
              <a:srgbClr val="3B3A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09B9ABC-616F-AEA7-14E8-A4FB3E6BBB3B}"/>
                </a:ext>
              </a:extLst>
            </p:cNvPr>
            <p:cNvSpPr/>
            <p:nvPr userDrawn="1"/>
          </p:nvSpPr>
          <p:spPr>
            <a:xfrm rot="16200000">
              <a:off x="998135" y="744722"/>
              <a:ext cx="80514" cy="371146"/>
            </a:xfrm>
            <a:prstGeom prst="rect">
              <a:avLst/>
            </a:prstGeom>
            <a:solidFill>
              <a:srgbClr val="EF416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57061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71" r:id="rId8"/>
    <p:sldLayoutId id="2147483669" r:id="rId9"/>
    <p:sldLayoutId id="2147483670" r:id="rId1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5305B-582C-4611-414F-378D1B0C93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86857" y="2870062"/>
            <a:ext cx="5618285" cy="704771"/>
          </a:xfrm>
        </p:spPr>
        <p:txBody>
          <a:bodyPr>
            <a:normAutofit fontScale="90000"/>
          </a:bodyPr>
          <a:lstStyle/>
          <a:p>
            <a:r>
              <a:rPr lang="en-US" sz="4800" dirty="0" err="1">
                <a:solidFill>
                  <a:srgbClr val="EF4164"/>
                </a:solidFill>
              </a:rPr>
              <a:t>gROUP</a:t>
            </a:r>
            <a:r>
              <a:rPr lang="en-US" sz="4800" dirty="0">
                <a:solidFill>
                  <a:srgbClr val="EF4164"/>
                </a:solidFill>
              </a:rPr>
              <a:t> 6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B8F2A0-CC22-6D16-7F66-79432871A9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95400" y="3865542"/>
            <a:ext cx="9601200" cy="12770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800" b="1" dirty="0"/>
              <a:t>PRESENTATION</a:t>
            </a:r>
          </a:p>
        </p:txBody>
      </p:sp>
    </p:spTree>
    <p:extLst>
      <p:ext uri="{BB962C8B-B14F-4D97-AF65-F5344CB8AC3E}">
        <p14:creationId xmlns:p14="http://schemas.microsoft.com/office/powerpoint/2010/main" val="1875131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247335D-76F5-6537-3341-6FFCC19F7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err="1">
                <a:solidFill>
                  <a:schemeClr val="tx1"/>
                </a:solidFill>
              </a:rPr>
              <a:t>Jamhuriya</a:t>
            </a:r>
            <a:r>
              <a:rPr lang="en-US" sz="3600" dirty="0">
                <a:solidFill>
                  <a:schemeClr val="tx1"/>
                </a:solidFill>
              </a:rPr>
              <a:t> University - Cloud Infrastructure Project</a:t>
            </a:r>
            <a:br>
              <a:rPr lang="en-US" dirty="0">
                <a:solidFill>
                  <a:schemeClr val="tx1"/>
                </a:solidFill>
              </a:rPr>
            </a:b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FE48CA5-F270-0F8A-A741-4C90C63F28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solidFill>
                  <a:schemeClr val="tx1"/>
                </a:solidFill>
              </a:rPr>
              <a:t>Group 6</a:t>
            </a:r>
            <a:br>
              <a:rPr lang="en-US" sz="2800" dirty="0">
                <a:solidFill>
                  <a:schemeClr val="tx1"/>
                </a:solidFill>
              </a:rPr>
            </a:br>
            <a:r>
              <a:rPr lang="en-US" sz="2800" dirty="0">
                <a:solidFill>
                  <a:schemeClr val="tx1"/>
                </a:solidFill>
              </a:rPr>
              <a:t>CNS222</a:t>
            </a:r>
            <a:br>
              <a:rPr lang="en-US" sz="2800" dirty="0">
                <a:solidFill>
                  <a:schemeClr val="tx1"/>
                </a:solidFill>
              </a:rPr>
            </a:br>
            <a:r>
              <a:rPr lang="en-US" sz="2800" dirty="0">
                <a:solidFill>
                  <a:schemeClr val="tx1"/>
                </a:solidFill>
              </a:rPr>
              <a:t>July 2026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9D0A7D-FDB5-1EF0-74D1-4F6BC6C9B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9DF15-4478-4448-9846-E5E06FC69D17}" type="datetime1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3EC4A5-1490-1A3A-9113-D46AB6E96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Mohamed Aweis, Jamhuriya University. All rights reserved.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0450B4-1820-E8E4-B41D-B7C012B23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914E7-627A-4488-B1D4-86320806B3D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6063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A1E6C3B-C840-8CCF-7659-594768AE5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/>
                </a:solidFill>
              </a:rPr>
              <a:t>Problem Statement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F266248-503B-E381-9273-68623FDEE0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</a:rPr>
              <a:t>Registration week: </a:t>
            </a:r>
            <a:r>
              <a:rPr lang="en-US" sz="2800" dirty="0">
                <a:solidFill>
                  <a:srgbClr val="FF0000"/>
                </a:solidFill>
              </a:rPr>
              <a:t>servers crashed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en-US" sz="2800" dirty="0">
                <a:solidFill>
                  <a:schemeClr val="tx1"/>
                </a:solidFill>
              </a:rPr>
              <a:t>students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2800" dirty="0">
                <a:solidFill>
                  <a:srgbClr val="FF0000"/>
                </a:solidFill>
              </a:rPr>
              <a:t>couldn't register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</a:rPr>
              <a:t>Data was on ONE server with </a:t>
            </a:r>
            <a:r>
              <a:rPr lang="en-US" sz="2800" dirty="0">
                <a:solidFill>
                  <a:srgbClr val="FF0000"/>
                </a:solidFill>
              </a:rPr>
              <a:t>NO backup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2800" dirty="0">
                <a:solidFill>
                  <a:schemeClr val="tx1"/>
                </a:solidFill>
              </a:rPr>
              <a:t>fire or flood would wipe everything out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</a:rPr>
              <a:t>Storage was </a:t>
            </a:r>
            <a:r>
              <a:rPr lang="en-US" sz="2800" dirty="0">
                <a:solidFill>
                  <a:srgbClr val="FF0000"/>
                </a:solidFill>
              </a:rPr>
              <a:t>full</a:t>
            </a:r>
            <a:r>
              <a:rPr lang="en-US" sz="2800" dirty="0">
                <a:solidFill>
                  <a:schemeClr val="tx1"/>
                </a:solidFill>
              </a:rPr>
              <a:t>. Remote access barely worked. And anyone could see any data because there was </a:t>
            </a:r>
            <a:r>
              <a:rPr lang="en-US" sz="2800" dirty="0">
                <a:solidFill>
                  <a:srgbClr val="FF0000"/>
                </a:solidFill>
              </a:rPr>
              <a:t>no MFA </a:t>
            </a:r>
            <a:r>
              <a:rPr lang="en-US" sz="2800" dirty="0">
                <a:solidFill>
                  <a:schemeClr val="tx1"/>
                </a:solidFill>
              </a:rPr>
              <a:t>or access control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07BBCA-27EA-869E-3079-1BC118CD69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4CEF9-7CAA-495B-B225-414E6F4701A3}" type="datetime1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B2F3DA-B824-9CC5-B35C-E5C3AFE38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Mohamed Aweis, Jamhuriya University. All rights reserved.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C97B32-6B42-DDA1-BF0A-26D791CE0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914E7-627A-4488-B1D4-86320806B3D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0955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9379745-4057-A174-CE55-1348870B1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/>
                </a:solidFill>
              </a:rPr>
              <a:t>Solution Overview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FA964E8-34EE-B708-2D60-8639B795AC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Built secure, scalable, </a:t>
            </a:r>
          </a:p>
          <a:p>
            <a:r>
              <a:rPr lang="en-US" dirty="0">
                <a:solidFill>
                  <a:schemeClr val="tx1"/>
                </a:solidFill>
              </a:rPr>
              <a:t>highly available AWS infrastructure in af-south-1 (Cape Town)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0DBB9C-F6EC-B2CE-647C-0A8A21FA3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4CEF9-7CAA-495B-B225-414E6F4701A3}" type="datetime1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5FFA66-6ACC-CE98-58EA-2ED2DBA24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Mohamed Aweis, Jamhuriya University. All rights reserved.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A54EAB-F68A-4931-93A3-A59810FB8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914E7-627A-4488-B1D4-86320806B3D5}" type="slidenum">
              <a:rPr lang="en-US" smtClean="0"/>
              <a:t>4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817A77F-CD56-604E-BE0B-FB0C537A52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2928" y="1871348"/>
            <a:ext cx="7963438" cy="4067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4855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F1A0FBB-601A-CA8A-CDED-9A1E02EE0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/>
                </a:solidFill>
              </a:rPr>
              <a:t>VPC &amp; Networking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C34D40-E40E-FE88-E7E3-599BD01F47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tx1"/>
                </a:solidFill>
              </a:rPr>
              <a:t>We created a VPC with two subnets: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FF0000"/>
                </a:solidFill>
              </a:rPr>
              <a:t>Public Subnet</a:t>
            </a:r>
            <a:r>
              <a:rPr lang="en-US" sz="2800" dirty="0">
                <a:solidFill>
                  <a:schemeClr val="tx1"/>
                </a:solidFill>
              </a:rPr>
              <a:t>: Web server (EC2) with internet access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0070C0"/>
                </a:solidFill>
              </a:rPr>
              <a:t>Private Subnet</a:t>
            </a:r>
            <a:r>
              <a:rPr lang="en-US" sz="2800" dirty="0">
                <a:solidFill>
                  <a:schemeClr val="tx1"/>
                </a:solidFill>
              </a:rPr>
              <a:t>: Database (RDS) with NO internet access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tx1"/>
                </a:solidFill>
              </a:rPr>
              <a:t>We attached </a:t>
            </a:r>
            <a:r>
              <a:rPr lang="en-US" sz="2800" dirty="0">
                <a:solidFill>
                  <a:srgbClr val="00B050"/>
                </a:solidFill>
              </a:rPr>
              <a:t>EBS</a:t>
            </a:r>
            <a:r>
              <a:rPr lang="en-US" sz="2800" dirty="0">
                <a:solidFill>
                  <a:schemeClr val="tx1"/>
                </a:solidFill>
              </a:rPr>
              <a:t> storage and created 3 </a:t>
            </a:r>
            <a:r>
              <a:rPr lang="en-US" sz="2800" dirty="0">
                <a:solidFill>
                  <a:srgbClr val="00B050"/>
                </a:solidFill>
              </a:rPr>
              <a:t>S3</a:t>
            </a:r>
            <a:r>
              <a:rPr lang="en-US" sz="2800" dirty="0">
                <a:solidFill>
                  <a:schemeClr val="tx1"/>
                </a:solidFill>
              </a:rPr>
              <a:t> buckets for files. The </a:t>
            </a:r>
            <a:r>
              <a:rPr lang="en-US" sz="2800" dirty="0">
                <a:solidFill>
                  <a:srgbClr val="00B0F0"/>
                </a:solidFill>
              </a:rPr>
              <a:t>load balancer </a:t>
            </a:r>
            <a:r>
              <a:rPr lang="en-US" sz="2800" dirty="0">
                <a:solidFill>
                  <a:schemeClr val="tx1"/>
                </a:solidFill>
              </a:rPr>
              <a:t>+ </a:t>
            </a:r>
            <a:r>
              <a:rPr lang="en-US" sz="2800" dirty="0">
                <a:solidFill>
                  <a:srgbClr val="00B0F0"/>
                </a:solidFill>
              </a:rPr>
              <a:t>Auto Scaling </a:t>
            </a:r>
            <a:r>
              <a:rPr lang="en-US" sz="2800" dirty="0">
                <a:solidFill>
                  <a:schemeClr val="tx1"/>
                </a:solidFill>
              </a:rPr>
              <a:t>handles traffic spikes automatically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3BDD3B-1C86-567A-A1B9-2A02288AD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4CEF9-7CAA-495B-B225-414E6F4701A3}" type="datetime1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DC87ED-0F9D-AB1E-B095-820C578CB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Mohamed Aweis, Jamhuriya University. All rights reserved.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D54B29-2C80-9526-1B92-91F35C13F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914E7-627A-4488-B1D4-86320806B3D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5805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60BFD-A2B2-17FE-23A4-DEE463982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Security 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D270A0-37FB-F243-23B9-A79A3C88BA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200" dirty="0">
                <a:solidFill>
                  <a:schemeClr val="tx1"/>
                </a:solidFill>
              </a:rPr>
              <a:t>IAM controls access </a:t>
            </a:r>
            <a:r>
              <a:rPr lang="en-US" sz="3200" dirty="0">
                <a:solidFill>
                  <a:srgbClr val="00B050"/>
                </a:solidFill>
              </a:rPr>
              <a:t>Admins</a:t>
            </a:r>
            <a:r>
              <a:rPr lang="en-US" sz="3200" dirty="0">
                <a:solidFill>
                  <a:schemeClr val="tx1"/>
                </a:solidFill>
              </a:rPr>
              <a:t> have full access, 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solidFill>
                  <a:schemeClr val="tx1"/>
                </a:solidFill>
              </a:rPr>
              <a:t>Faculty can </a:t>
            </a:r>
            <a:r>
              <a:rPr lang="en-US" sz="3200" dirty="0">
                <a:solidFill>
                  <a:schemeClr val="accent3"/>
                </a:solidFill>
              </a:rPr>
              <a:t>upload</a:t>
            </a:r>
            <a:r>
              <a:rPr lang="en-US" sz="3200" dirty="0">
                <a:solidFill>
                  <a:schemeClr val="tx1"/>
                </a:solidFill>
              </a:rPr>
              <a:t>, Students can only view. 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solidFill>
                  <a:schemeClr val="tx1"/>
                </a:solidFill>
              </a:rPr>
              <a:t>MFA </a:t>
            </a:r>
            <a:r>
              <a:rPr lang="en-US" sz="3200" dirty="0">
                <a:solidFill>
                  <a:schemeClr val="accent3"/>
                </a:solidFill>
              </a:rPr>
              <a:t>protects</a:t>
            </a:r>
            <a:r>
              <a:rPr lang="en-US" sz="3200" dirty="0">
                <a:solidFill>
                  <a:schemeClr val="tx1"/>
                </a:solidFill>
              </a:rPr>
              <a:t> admin accounts. 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solidFill>
                  <a:schemeClr val="tx1"/>
                </a:solidFill>
              </a:rPr>
              <a:t>The database is in a private subnet, completely </a:t>
            </a:r>
            <a:r>
              <a:rPr lang="en-US" sz="3200" dirty="0">
                <a:solidFill>
                  <a:srgbClr val="00B050"/>
                </a:solidFill>
              </a:rPr>
              <a:t>isolated</a:t>
            </a:r>
            <a:r>
              <a:rPr lang="en-US" sz="3200" dirty="0">
                <a:solidFill>
                  <a:schemeClr val="tx1"/>
                </a:solidFill>
              </a:rPr>
              <a:t> from the internet.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950AA1-E5E2-78A5-1DE3-7E57B9B86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9DF15-4478-4448-9846-E5E06FC69D17}" type="datetime1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7DC2E3-C607-DDD6-0A41-8958527CD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Mohamed Aweis, Jamhuriya University. All rights reserved.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464C4E-3FA1-E144-2295-65FE57C77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914E7-627A-4488-B1D4-86320806B3D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4587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4F372-ADD1-8615-009D-4419118A5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Auto Scaling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02641A-BE87-C142-B82C-B5F8419F57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When CPU exceeds </a:t>
            </a:r>
            <a:r>
              <a:rPr lang="en-US" dirty="0">
                <a:solidFill>
                  <a:srgbClr val="FF0000"/>
                </a:solidFill>
              </a:rPr>
              <a:t>60%</a:t>
            </a:r>
            <a:r>
              <a:rPr lang="en-US" dirty="0">
                <a:solidFill>
                  <a:schemeClr val="tx1"/>
                </a:solidFill>
              </a:rPr>
              <a:t>, Auto Scaling adds servers. </a:t>
            </a:r>
          </a:p>
          <a:p>
            <a:r>
              <a:rPr lang="en-US" dirty="0">
                <a:solidFill>
                  <a:schemeClr val="tx1"/>
                </a:solidFill>
              </a:rPr>
              <a:t>When it drops below </a:t>
            </a:r>
            <a:r>
              <a:rPr lang="en-US" dirty="0">
                <a:solidFill>
                  <a:srgbClr val="00B050"/>
                </a:solidFill>
              </a:rPr>
              <a:t>20%, </a:t>
            </a:r>
            <a:r>
              <a:rPr lang="en-US" dirty="0">
                <a:solidFill>
                  <a:schemeClr val="tx1"/>
                </a:solidFill>
              </a:rPr>
              <a:t>it removes them. Min 1, Max 4.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49DE86-0A3A-80D6-D02C-74518297A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9DF15-4478-4448-9846-E5E06FC69D17}" type="datetime1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C32338-4C96-C460-E637-DDBD07A33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Mohamed Aweis, Jamhuriya University. All rights reserved.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C7B560-6ABE-F7CA-4A83-1B45FF2CF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914E7-627A-4488-B1D4-86320806B3D5}" type="slidenum">
              <a:rPr lang="en-US" smtClean="0"/>
              <a:t>7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788A1AB-7DA8-805C-C708-A5C0FD869E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584" y="1977572"/>
            <a:ext cx="10840598" cy="420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9070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89CD5-87D7-5092-2463-C7245D7F2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/>
                </a:solidFill>
              </a:rPr>
              <a:t>Live Demo Portal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7230F17E-FE8F-7BA1-BFA7-010FC84915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3181" y="1253366"/>
            <a:ext cx="9285638" cy="4970462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75B41B-AD30-67AD-63C2-126DF52DF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9DF15-4478-4448-9846-E5E06FC69D17}" type="datetime1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59D6C8-E9B5-A57D-0D58-9EA611C9B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Mohamed Aweis, Jamhuriya University. All rights reserved.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68CE89-B1DE-D1A1-6709-43F8C10C1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914E7-627A-4488-B1D4-86320806B3D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9727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ACFFD-B590-1DA7-09E1-7A3A830B3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/>
                </a:solidFill>
              </a:rPr>
              <a:t>Live Demo Database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08F3EF0-33DA-CD49-AA41-E38C71B427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9969" y="1253366"/>
            <a:ext cx="8220084" cy="4970462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4355EE-62FF-FAD1-64BD-F23B32F2E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9DF15-4478-4448-9846-E5E06FC69D17}" type="datetime1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9E5766-2144-909E-F5A2-8663978C9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Mohamed Aweis, Jamhuriya University. All rights reserved.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83DCE2-F464-051D-3333-7B01C494E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914E7-627A-4488-B1D4-86320806B3D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3393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8A050-3563-D726-4900-96F67F94C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/>
                </a:solidFill>
              </a:rPr>
              <a:t>Live Demo: Monitoring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B2CAC6F9-1933-FF00-E4CE-360C2B977B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365" y="1592020"/>
            <a:ext cx="10274671" cy="367396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D15682-7095-1C5D-4AD9-22527C529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9DF15-4478-4448-9846-E5E06FC69D17}" type="datetime1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F6AAE1-0E09-3181-467C-059C13A13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Mohamed Aweis, Jamhuriya University. All rights reserved.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E2E8C7-E7EC-6C4F-3A4C-23560B69E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914E7-627A-4488-B1D4-86320806B3D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691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BA422-C314-EE37-524F-3788B22AB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/>
                </a:solidFill>
              </a:rPr>
              <a:t>Challenges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C6A787-943B-EF2E-1D18-D637680C8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9DF15-4478-4448-9846-E5E06FC69D17}" type="datetime1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E5CC2E-740E-780D-1519-87E5B7DB6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Mohamed Aweis, Jamhuriya University. All rights reserved.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E6ED70-2A7A-8D1B-5CED-3D89DB85D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914E7-627A-4488-B1D4-86320806B3D5}" type="slidenum">
              <a:rPr lang="en-US" smtClean="0"/>
              <a:t>11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D55F386-4847-FAEC-0F17-15CBAD7ADD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200" dirty="0">
                <a:solidFill>
                  <a:schemeClr val="tx1"/>
                </a:solidFill>
              </a:rPr>
              <a:t>We had issues: </a:t>
            </a:r>
            <a:r>
              <a:rPr lang="en-US" sz="3200" dirty="0">
                <a:solidFill>
                  <a:srgbClr val="FF0000"/>
                </a:solidFill>
              </a:rPr>
              <a:t>Bahrain region </a:t>
            </a:r>
            <a:r>
              <a:rPr lang="en-US" sz="3200" dirty="0">
                <a:solidFill>
                  <a:schemeClr val="tx1"/>
                </a:solidFill>
              </a:rPr>
              <a:t>outage switched to </a:t>
            </a:r>
            <a:r>
              <a:rPr lang="en-US" sz="3200" dirty="0">
                <a:solidFill>
                  <a:srgbClr val="00B050"/>
                </a:solidFill>
              </a:rPr>
              <a:t>Cape Town</a:t>
            </a:r>
            <a:r>
              <a:rPr lang="en-US" sz="3200" dirty="0">
                <a:solidFill>
                  <a:schemeClr val="tx1"/>
                </a:solidFill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solidFill>
                  <a:schemeClr val="tx1"/>
                </a:solidFill>
              </a:rPr>
              <a:t>RDS required </a:t>
            </a:r>
            <a:r>
              <a:rPr lang="en-US" sz="3200" dirty="0">
                <a:solidFill>
                  <a:schemeClr val="accent3"/>
                </a:solidFill>
              </a:rPr>
              <a:t>2 </a:t>
            </a:r>
            <a:r>
              <a:rPr lang="en-US" sz="3200" dirty="0" err="1">
                <a:solidFill>
                  <a:schemeClr val="accent3"/>
                </a:solidFill>
              </a:rPr>
              <a:t>Azs</a:t>
            </a:r>
            <a:r>
              <a:rPr lang="en-US" sz="3200" dirty="0">
                <a:solidFill>
                  <a:schemeClr val="accent3"/>
                </a:solidFill>
              </a:rPr>
              <a:t> </a:t>
            </a:r>
            <a:r>
              <a:rPr lang="en-US" sz="3200" dirty="0">
                <a:solidFill>
                  <a:schemeClr val="tx1"/>
                </a:solidFill>
              </a:rPr>
              <a:t>added another subnet. 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solidFill>
                  <a:schemeClr val="tx1"/>
                </a:solidFill>
              </a:rPr>
              <a:t>SSH timeouts fixed by adding our IPs to the security group</a:t>
            </a:r>
          </a:p>
        </p:txBody>
      </p:sp>
    </p:spTree>
    <p:extLst>
      <p:ext uri="{BB962C8B-B14F-4D97-AF65-F5344CB8AC3E}">
        <p14:creationId xmlns:p14="http://schemas.microsoft.com/office/powerpoint/2010/main" val="41994809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C8CFD-77FA-7D7B-2F0E-376AA65DD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/>
                </a:solidFill>
              </a:rPr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68E832-AB0D-6743-DA50-E064D82EAD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200" dirty="0">
                <a:solidFill>
                  <a:schemeClr val="tx1"/>
                </a:solidFill>
              </a:rPr>
              <a:t>JUST now has zero downtime during registration, 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solidFill>
                  <a:schemeClr val="tx1"/>
                </a:solidFill>
              </a:rPr>
              <a:t>secure </a:t>
            </a:r>
            <a:r>
              <a:rPr lang="en-US" sz="3200" dirty="0">
                <a:solidFill>
                  <a:srgbClr val="00B050"/>
                </a:solidFill>
              </a:rPr>
              <a:t>backed-up data</a:t>
            </a:r>
            <a:r>
              <a:rPr lang="en-US" sz="3200" dirty="0">
                <a:solidFill>
                  <a:schemeClr val="tx1"/>
                </a:solidFill>
              </a:rPr>
              <a:t>, </a:t>
            </a:r>
            <a:r>
              <a:rPr lang="en-US" sz="3200" dirty="0">
                <a:solidFill>
                  <a:srgbClr val="00B050"/>
                </a:solidFill>
              </a:rPr>
              <a:t>unlimited</a:t>
            </a:r>
            <a:r>
              <a:rPr lang="en-US" sz="3200" dirty="0">
                <a:solidFill>
                  <a:schemeClr val="tx1"/>
                </a:solidFill>
              </a:rPr>
              <a:t> storage, 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solidFill>
                  <a:schemeClr val="tx1"/>
                </a:solidFill>
              </a:rPr>
              <a:t>24/7 monitoring, and enterprise security all for under $50/month. 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solidFill>
                  <a:srgbClr val="00B050"/>
                </a:solidFill>
              </a:rPr>
              <a:t>Scalable</a:t>
            </a:r>
            <a:r>
              <a:rPr lang="en-US" sz="3200" dirty="0">
                <a:solidFill>
                  <a:schemeClr val="tx1"/>
                </a:solidFill>
              </a:rPr>
              <a:t> for the next 10 years.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B8E9B7-5713-B831-946C-94A933312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9DF15-4478-4448-9846-E5E06FC69D17}" type="datetime1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29E668-6A35-E74A-4E24-FAB6ADC81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Mohamed Aweis, Jamhuriya University. All rights reserved.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7CE7D2-96EA-0300-EDEA-61E9A8A2F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914E7-627A-4488-B1D4-86320806B3D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2420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C4D53-82B7-0F6C-5A20-DB53785CA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Team &amp; Thank You 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64214E-265B-46D2-4D79-E21C364435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200" dirty="0">
                <a:solidFill>
                  <a:schemeClr val="tx1"/>
                </a:solidFill>
              </a:rPr>
              <a:t>Group 6: Cloud Admin, Security Engineer, Security Assistant, 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solidFill>
                  <a:schemeClr val="tx1"/>
                </a:solidFill>
              </a:rPr>
              <a:t>Infrastructure Engineer, Network Engineer, Database Engineer, 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solidFill>
                  <a:schemeClr val="tx1"/>
                </a:solidFill>
              </a:rPr>
              <a:t>Storage Engineer, and Monitoring Lead</a:t>
            </a:r>
            <a:r>
              <a:rPr lang="en-US" sz="3200">
                <a:solidFill>
                  <a:schemeClr val="tx1"/>
                </a:solidFill>
              </a:rPr>
              <a:t>. </a:t>
            </a:r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0614A2-EB12-216D-5FEA-68BEE7A58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9DF15-4478-4448-9846-E5E06FC69D17}" type="datetime1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2C2F0C-F356-CF43-DB35-6D35CF099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Mohamed Aweis, Jamhuriya University. All rights reserved.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DED78D-CF27-0D9A-516C-D5F70E7C0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914E7-627A-4488-B1D4-86320806B3D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6182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DBBF34-2E4F-FAEB-94FC-28BA85073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DD5FD-6A2A-4864-B315-3B48DDD2936D}" type="datetime1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DF1F03-B6CA-C613-6ACF-1FF1F5E12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Mohamed Aweis, Jamhuriya University. All rights reserved.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660539-020A-3CEE-F28A-3BD9CE2F0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914E7-627A-4488-B1D4-86320806B3D5}" type="slidenum">
              <a:rPr lang="en-US" smtClean="0"/>
              <a:t>14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EB8D38-4183-FAF0-57E7-7A31E52758D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061417" y="1922462"/>
            <a:ext cx="9629775" cy="3013075"/>
          </a:xfrm>
        </p:spPr>
        <p:txBody>
          <a:bodyPr>
            <a:noAutofit/>
          </a:bodyPr>
          <a:lstStyle/>
          <a:p>
            <a:pPr algn="ctr"/>
            <a:r>
              <a:rPr lang="en-US" sz="19900" dirty="0">
                <a:solidFill>
                  <a:srgbClr val="EF4164"/>
                </a:solidFill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3339014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Basis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Custom 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F36FAEB3-6A91-4909-83A5-4CD632EDCB5F}" vid="{8D01E671-AD9C-4C9D-BCCD-72A52016278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45FDB62-7F1D-409E-B71F-0D228348D94F}">
  <we:reference id="wa200005566" version="1.0.0.0" store="en-US" storeType="OMEX"/>
  <we:alternateReferences>
    <we:reference id="WA200005566" version="1.0.0.0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Chapter 1 Fundamental of Cloud Computing</Template>
  <TotalTime>14009</TotalTime>
  <Words>501</Words>
  <Application>Microsoft Office PowerPoint</Application>
  <PresentationFormat>Widescreen</PresentationFormat>
  <Paragraphs>81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Corbel</vt:lpstr>
      <vt:lpstr>Wingdings</vt:lpstr>
      <vt:lpstr>Basis</vt:lpstr>
      <vt:lpstr>gROUP 6</vt:lpstr>
      <vt:lpstr>Jamhuriya University - Cloud Infrastructure Project </vt:lpstr>
      <vt:lpstr>Problem Statement</vt:lpstr>
      <vt:lpstr>Solution Overview</vt:lpstr>
      <vt:lpstr>VPC &amp; Networking</vt:lpstr>
      <vt:lpstr>Security </vt:lpstr>
      <vt:lpstr>Auto Scaling</vt:lpstr>
      <vt:lpstr>Live Demo Portal</vt:lpstr>
      <vt:lpstr>Live Demo Database</vt:lpstr>
      <vt:lpstr>Live Demo: Monitoring</vt:lpstr>
      <vt:lpstr>Challenges</vt:lpstr>
      <vt:lpstr>Results</vt:lpstr>
      <vt:lpstr>Team &amp; Thank You </vt:lpstr>
      <vt:lpstr>END</vt:lpstr>
    </vt:vector>
  </TitlesOfParts>
  <Company>Jamhuriya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Cloud Computing</dc:subject>
  <dc:creator>Mohamed Aweis</dc:creator>
  <cp:lastModifiedBy>ilyaas ashraf</cp:lastModifiedBy>
  <cp:revision>21</cp:revision>
  <dcterms:created xsi:type="dcterms:W3CDTF">2026-02-26T11:35:18Z</dcterms:created>
  <dcterms:modified xsi:type="dcterms:W3CDTF">2026-07-03T05:18:47Z</dcterms:modified>
</cp:coreProperties>
</file>